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6152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/>
            </a:pPr>
            <a:r>
              <a:t>Automated Insight Engine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/>
            </a:pPr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/>
          <a:p>
            <a:pPr lvl="1">
              <a:defRPr sz="1800">
                <a:solidFill>
                  <a:srgbClr val="282828"/>
                </a:solidFill>
                <a:latin typeface="Helvetica"/>
              </a:defRPr>
            </a:pPr>
            <a:r>
              <a:t>Okay, here's a summary of the provided data, focusing on actionable insights:</a:t>
            </a:r>
          </a:p>
          <a:p>
            <a:pPr lvl="1">
              <a:defRPr sz="1800">
                <a:solidFill>
                  <a:srgbClr val="282828"/>
                </a:solidFill>
                <a:latin typeface="Helvetica"/>
              </a:defRPr>
            </a:pPr>
            <a:r>
              <a:t>Executive Summary:**</a:t>
            </a:r>
          </a:p>
          <a:p>
            <a:pPr lvl="1">
              <a:defRPr sz="1800">
                <a:solidFill>
                  <a:srgbClr val="282828"/>
                </a:solidFill>
                <a:latin typeface="Helvetica"/>
              </a:defRPr>
            </a:pPr>
            <a:r>
              <a:t>This report analyzes campaign performance data across 5000 rows, revealing a solid click-through rate (CTR) of 7.61% on 16.2 million impressions, resulting in 1.23 million clicks. Traffic is primarily concentrated in the top five cities, with Bangalore leading the way. However, a significant number of traffic anomalies, particularly in Bangalore, require immediate investigation to understand their cause and impact.</a:t>
            </a:r>
          </a:p>
          <a:p>
            <a:pPr lvl="1">
              <a:defRPr sz="1800">
                <a:solidFill>
                  <a:srgbClr val="282828"/>
                </a:solidFill>
                <a:latin typeface="Helvetica"/>
              </a:defRPr>
            </a:pPr>
            <a:r>
              <a:t>Key Takeaways:**</a:t>
            </a:r>
          </a:p>
          <a:p>
            <a:pPr lvl="1">
              <a:defRPr sz="1800">
                <a:solidFill>
                  <a:srgbClr val="282828"/>
                </a:solidFill>
                <a:latin typeface="Helvetica"/>
              </a:defRPr>
            </a:pPr>
            <a:r>
              <a:t>Strong CTR:** The 7.61% CTR indicates effective ad creative and targeting strategies overall.</a:t>
            </a:r>
          </a:p>
          <a:p>
            <a:pPr lvl="1">
              <a:defRPr sz="1800">
                <a:solidFill>
                  <a:srgbClr val="282828"/>
                </a:solidFill>
                <a:latin typeface="Helvetica"/>
              </a:defRPr>
            </a:pPr>
            <a:r>
              <a:t>City Concentration:** Top 5 cities contribute significantly to overall traffic, indicating potential for focused regional campaigns.</a:t>
            </a:r>
          </a:p>
          <a:p>
            <a:pPr lvl="1">
              <a:defRPr sz="1800">
                <a:solidFill>
                  <a:srgbClr val="282828"/>
                </a:solidFill>
                <a:latin typeface="Helvetica"/>
              </a:defRPr>
            </a:pPr>
            <a:r>
              <a:t>Bangalore Anomaly Cluster:** The large number of traffic anomalies specifically in Bangalore suggests potential data issues, campaign malfunctions, or external factors affecting traffic in this region.</a:t>
            </a:r>
          </a:p>
          <a:p>
            <a:pPr lvl="1">
              <a:defRPr sz="1800">
                <a:solidFill>
                  <a:srgbClr val="282828"/>
                </a:solidFill>
                <a:latin typeface="Helvetica"/>
              </a:defRPr>
            </a:pPr>
            <a:r>
              <a:t>Action Recommendations:**</a:t>
            </a:r>
          </a:p>
          <a:p>
            <a:pPr lvl="1">
              <a:defRPr sz="1800">
                <a:solidFill>
                  <a:srgbClr val="282828"/>
                </a:solidFill>
                <a:latin typeface="Helvetica"/>
              </a:defRPr>
            </a:pPr>
            <a:r>
              <a:t>Investigate Bangalore Anomalies:** Prioritize a deep dive into the Bangalore traffic data around 2025-01-01 to identify the root cause of the numerous anomalies. This includes checking for data integrity issues, campaign configuration errors, and external events affecting Bangalore traffic.</a:t>
            </a:r>
          </a:p>
          <a:p>
            <a:pPr lvl="1">
              <a:defRPr sz="1800">
                <a:solidFill>
                  <a:srgbClr val="282828"/>
                </a:solidFill>
                <a:latin typeface="Helvetica"/>
              </a:defRPr>
            </a:pPr>
            <a:r>
              <a:t>Segment &amp; Analyze City Performance:** Further analyze performance metrics by city (beyond just impressions) to identify opportunities for optimization. This includes comparing CTRs, conversion rates (if available), and cost per click (CPC) across different cities.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/>
            </a:pPr>
            <a:r>
              <a:t>Key Metrics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280160"/>
          <a:ext cx="100584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5029200"/>
              </a:tblGrid>
              <a:tr h="609600">
                <a:tc>
                  <a:txBody>
                    <a:bodyPr/>
                    <a:lstStyle/>
                    <a:p>
                      <a:pPr>
                        <a:defRPr sz="2000"/>
                      </a:pPr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/>
                      </a:pPr>
                      <a:r>
                        <a:t>Value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2000"/>
                      </a:pPr>
                      <a:r>
                        <a:t>Row 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/>
                      </a:pPr>
                      <a:r>
                        <a:t>5000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2000"/>
                      </a:pPr>
                      <a:r>
                        <a:t>Total Impressions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/>
                      </a:pPr>
                      <a:r>
                        <a:t>16221520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2000"/>
                      </a:pPr>
                      <a:r>
                        <a:t>Total Clicks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/>
                      </a:pPr>
                      <a:r>
                        <a:t>1234819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2000"/>
                      </a:pPr>
                      <a:r>
                        <a:t>CTR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/>
                      </a:pPr>
                      <a:r>
                        <a:t>0.0761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2000"/>
                      </a:pPr>
                      <a:r>
                        <a:t>Top Cities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000"/>
                      </a:pPr>
                      <a:r>
                        <a:t>{'Bangalore': 273546, 'Chennai': 269173, 'Mumbai': 260675, 'Delhi': 259930, 'Hyderabad': 251324}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/>
            </a:pPr>
            <a:r>
              <a:t>Detected Anomalies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/>
          <a:p>
            <a:pPr lvl="1">
              <a:defRPr sz="2000">
                <a:solidFill>
                  <a:srgbClr val="282828"/>
                </a:solidFill>
                <a:latin typeface="Helvetica"/>
              </a:defRPr>
            </a:pPr>
            <a:r>
              <a:t>Traffic dropped 35.1% in Bangalore on 2025-01-01</a:t>
            </a:r>
          </a:p>
          <a:p>
            <a:pPr lvl="1">
              <a:defRPr sz="2000">
                <a:solidFill>
                  <a:srgbClr val="282828"/>
                </a:solidFill>
                <a:latin typeface="Helvetica"/>
              </a:defRPr>
            </a:pPr>
            <a:r>
              <a:t>Traffic dropped 68.7% in Bangalore on 2025-01-01</a:t>
            </a:r>
          </a:p>
          <a:p>
            <a:pPr lvl="1">
              <a:defRPr sz="2000">
                <a:solidFill>
                  <a:srgbClr val="282828"/>
                </a:solidFill>
                <a:latin typeface="Helvetica"/>
              </a:defRPr>
            </a:pPr>
            <a:r>
              <a:t>Traffic spiked 275.0% in Bangalore on 2025-01-01</a:t>
            </a:r>
          </a:p>
          <a:p>
            <a:pPr lvl="1">
              <a:defRPr sz="2000">
                <a:solidFill>
                  <a:srgbClr val="282828"/>
                </a:solidFill>
                <a:latin typeface="Helvetica"/>
              </a:defRPr>
            </a:pPr>
            <a:r>
              <a:t>Traffic dropped 51.0% in Bangalore on 2025-01-01</a:t>
            </a:r>
          </a:p>
          <a:p>
            <a:pPr lvl="1">
              <a:defRPr sz="2000">
                <a:solidFill>
                  <a:srgbClr val="282828"/>
                </a:solidFill>
                <a:latin typeface="Helvetica"/>
              </a:defRPr>
            </a:pPr>
            <a:r>
              <a:t>Traffic spiked 135.3% in Bangalore on 2025-01-01</a:t>
            </a:r>
          </a:p>
          <a:p>
            <a:pPr lvl="1">
              <a:defRPr sz="2000">
                <a:solidFill>
                  <a:srgbClr val="282828"/>
                </a:solidFill>
                <a:latin typeface="Helvetica"/>
              </a:defRPr>
            </a:pPr>
            <a:r>
              <a:t>... plus 6413 more anomalies (summarized).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/>
            </a:pPr>
            <a:r>
              <a:t>Large Ad Dataset Ctr 1764749897.Png</a:t>
            </a:r>
          </a:p>
        </p:txBody>
      </p:sp>
      <p:pic>
        <p:nvPicPr>
          <p:cNvPr id="3" name="Picture 2" descr="large_ad_dataset_ctr_176474989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88720"/>
            <a:ext cx="10058400" cy="45262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/>
            </a:pPr>
            <a:r>
              <a:t>Large Ad Dataset City 1764749897.Png</a:t>
            </a:r>
          </a:p>
        </p:txBody>
      </p:sp>
      <p:pic>
        <p:nvPicPr>
          <p:cNvPr id="3" name="Picture 2" descr="large_ad_dataset_city_176474989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88720"/>
            <a:ext cx="1005840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/>
            </a:pPr>
            <a:r>
              <a:t>Large Ad Dataset Impr Box 1764749897.Png</a:t>
            </a:r>
          </a:p>
        </p:txBody>
      </p:sp>
      <p:pic>
        <p:nvPicPr>
          <p:cNvPr id="3" name="Picture 2" descr="large_ad_dataset_impr_box_176474989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88720"/>
            <a:ext cx="10058400" cy="5029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